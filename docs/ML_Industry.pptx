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Golos Text"/>
      <p:regular r:id="rId19"/>
      <p:bold r:id="rId20"/>
    </p:embeddedFont>
    <p:embeddedFont>
      <p:font typeface="Golos Text SemiBo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92trvkKcDomZ5/eAHlet4N4zJ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C3A0B-677C-43FB-944E-F5EFEF9F52C6}">
  <a:tblStyle styleId="{EEDC3A0B-677C-43FB-944E-F5EFEF9F52C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9"/>
          </a:solidFill>
        </a:fill>
      </a:tcStyle>
    </a:wholeTbl>
    <a:band1H>
      <a:tcTxStyle/>
      <a:tcStyle>
        <a:fill>
          <a:solidFill>
            <a:srgbClr val="CBCCD0"/>
          </a:solidFill>
        </a:fill>
      </a:tcStyle>
    </a:band1H>
    <a:band2H>
      <a:tcTxStyle/>
    </a:band2H>
    <a:band1V>
      <a:tcTxStyle/>
      <a:tcStyle>
        <a:fill>
          <a:solidFill>
            <a:srgbClr val="CBCCD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25335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25335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5335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25335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bold.fntdata"/><Relationship Id="rId11" Type="http://schemas.openxmlformats.org/officeDocument/2006/relationships/slide" Target="slides/slide5.xml"/><Relationship Id="rId22" Type="http://schemas.openxmlformats.org/officeDocument/2006/relationships/font" Target="fonts/GolosTextSemiBold-bold.fntdata"/><Relationship Id="rId10" Type="http://schemas.openxmlformats.org/officeDocument/2006/relationships/slide" Target="slides/slide4.xml"/><Relationship Id="rId21" Type="http://schemas.openxmlformats.org/officeDocument/2006/relationships/font" Target="fonts/GolosTextSemiBo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losTex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a03d7e5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aba03d7e56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ba03d7e5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aba03d7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aba03d7e5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f363d3571_3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f363d3571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f363d3571_3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5fc6b4c27_1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5fc6b4c27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a5fc6b4c27_1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a03d7e5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aba03d7e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aba03d7e56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f363d3571_3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f363d3571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f363d3571_3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5fc6b4c27_6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5fc6b4c27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a5fc6b4c27_6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ba03d7e56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aba03d7e5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aba03d7e56_6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f363d3571_3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af363d3571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af363d3571_3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363d3571_3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363d3571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f363d3571_3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5fc6b4c27_6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5fc6b4c27_6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5fc6b4c27_6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5fc6b4c27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a5fc6b4c27_6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>
                <a:latin typeface="Golos Text"/>
                <a:ea typeface="Golos Text"/>
                <a:cs typeface="Golos Text"/>
                <a:sym typeface="Golos Text"/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92" name="Google Shape;92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99" name="Google Shape;99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2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17" name="Google Shape;117;p2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3" name="Google Shape;123;p2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24" name="Google Shape;124;p2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5" name="Google Shape;125;p2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8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1" name="Google Shape;131;p28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32" name="Google Shape;132;p28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33" name="Google Shape;133;p28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34" name="Google Shape;134;p28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2" name="Google Shape;142;p29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3" name="Google Shape;143;p29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4" name="Google Shape;144;p29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9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48" name="Google Shape;148;p29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49" name="Google Shape;149;p29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a03d7e56_0_25"/>
          <p:cNvSpPr txBox="1"/>
          <p:nvPr>
            <p:ph type="title"/>
          </p:nvPr>
        </p:nvSpPr>
        <p:spPr>
          <a:xfrm>
            <a:off x="2024400" y="1838250"/>
            <a:ext cx="50952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sz="2100">
                <a:solidFill>
                  <a:schemeClr val="lt1"/>
                </a:solidFill>
              </a:rPr>
              <a:t>Cooking agent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sz="1700">
                <a:solidFill>
                  <a:schemeClr val="lt1"/>
                </a:solidFill>
              </a:rPr>
              <a:t>A Multi-Agent Recipe Discovery System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56" name="Google Shape;156;g3aba03d7e56_0_25"/>
          <p:cNvSpPr txBox="1"/>
          <p:nvPr/>
        </p:nvSpPr>
        <p:spPr>
          <a:xfrm>
            <a:off x="3296100" y="3843525"/>
            <a:ext cx="2551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Students:  </a:t>
            </a:r>
            <a:endParaRPr b="0" i="0" sz="1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Turushev Timur</a:t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Egor Shmelev</a:t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Ran Duan</a:t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Jorge Sosa</a:t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Course Project</a:t>
            </a:r>
            <a:endParaRPr sz="10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7" name="Google Shape;157;g3aba03d7e56_0_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a03d7e56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64" name="Google Shape;164;g3aba03d7e56_0_0"/>
          <p:cNvSpPr txBox="1"/>
          <p:nvPr/>
        </p:nvSpPr>
        <p:spPr>
          <a:xfrm>
            <a:off x="535350" y="1133675"/>
            <a:ext cx="5187900" cy="30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-US">
                <a:solidFill>
                  <a:schemeClr val="dk1"/>
                </a:solidFill>
              </a:rPr>
              <a:t>Finding the right recipe is still difficult - even with LLMs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Users often have multiple constraints: dietary needs, allergies, available ingredients, preferred cuisines.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Generic recipe search is too broad</a:t>
            </a:r>
            <a:b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Often returns irrelevant or impractical results.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LLM-only solutions are unreliable</a:t>
            </a:r>
            <a:b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They may hallucinate non-existent dishes or provide inconsistent steps.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Lack of personalization</a:t>
            </a:r>
            <a:br>
              <a:rPr b="1"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en-US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Users must repeat the same requirements every time.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5" name="Google Shape;165;g3aba03d7e56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g3aba03d7e56_0_0"/>
          <p:cNvPicPr preferRelativeResize="0"/>
          <p:nvPr/>
        </p:nvPicPr>
        <p:blipFill rotWithShape="1">
          <a:blip r:embed="rId3">
            <a:alphaModFix/>
          </a:blip>
          <a:srcRect b="12534" l="16887" r="15210" t="13909"/>
          <a:stretch/>
        </p:blipFill>
        <p:spPr>
          <a:xfrm>
            <a:off x="6005250" y="1617275"/>
            <a:ext cx="2122275" cy="229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f363d3571_3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73" name="Google Shape;173;g3af363d3571_3_8"/>
          <p:cNvSpPr txBox="1"/>
          <p:nvPr>
            <p:ph idx="1" type="body"/>
          </p:nvPr>
        </p:nvSpPr>
        <p:spPr>
          <a:xfrm>
            <a:off x="457200" y="1211950"/>
            <a:ext cx="48849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/>
              <a:t>A Multi-Agent System (MAS)</a:t>
            </a:r>
            <a:r>
              <a:rPr lang="en-US"/>
              <a:t> that coordinates several specialized LLM agents to deliver accurate and personalized recipe discovery.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Specialized roles (clarification, retrieval, critic, planner) handle their own tasks.</a:t>
            </a:r>
            <a:endParaRPr/>
          </a:p>
          <a:p>
            <a:pPr indent="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Structured collaboration ensures validation and refinement at each step.</a:t>
            </a:r>
            <a:endParaRPr/>
          </a:p>
          <a:p>
            <a:pPr indent="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Personalization built-in: constraints, preferences, and available ingredients are accounted for automatically.</a:t>
            </a:r>
            <a:endParaRPr/>
          </a:p>
          <a:p>
            <a:pPr indent="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Reliable outputs through cross-checking and iterative improvement.</a:t>
            </a:r>
            <a:endParaRPr/>
          </a:p>
        </p:txBody>
      </p:sp>
      <p:sp>
        <p:nvSpPr>
          <p:cNvPr id="174" name="Google Shape;174;g3af363d3571_3_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g3af363d3571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250" y="1819476"/>
            <a:ext cx="2133325" cy="2133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238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fc6b4c27_12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Agent architecture</a:t>
            </a:r>
            <a:endParaRPr/>
          </a:p>
        </p:txBody>
      </p:sp>
      <p:pic>
        <p:nvPicPr>
          <p:cNvPr id="182" name="Google Shape;182;g3a5fc6b4c27_1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250" y="1158075"/>
            <a:ext cx="7178299" cy="35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a5fc6b4c27_12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g3a5fc6b4c27_12_0"/>
          <p:cNvSpPr txBox="1"/>
          <p:nvPr/>
        </p:nvSpPr>
        <p:spPr>
          <a:xfrm>
            <a:off x="1003575" y="2888050"/>
            <a:ext cx="101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Clarified recipe </a:t>
            </a: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requirements</a:t>
            </a:r>
            <a:endParaRPr i="1" sz="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5" name="Google Shape;185;g3a5fc6b4c27_12_0"/>
          <p:cNvSpPr txBox="1"/>
          <p:nvPr/>
        </p:nvSpPr>
        <p:spPr>
          <a:xfrm>
            <a:off x="2328250" y="2715400"/>
            <a:ext cx="116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Search recipes with tools (MealDB API Client interaction)</a:t>
            </a:r>
            <a:endParaRPr i="1" sz="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6" name="Google Shape;186;g3a5fc6b4c27_12_0"/>
          <p:cNvSpPr txBox="1"/>
          <p:nvPr/>
        </p:nvSpPr>
        <p:spPr>
          <a:xfrm>
            <a:off x="4903200" y="2715400"/>
            <a:ext cx="14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Get </a:t>
            </a: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nutrition info</a:t>
            </a: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using OpenFoodFacts API Client / Redis</a:t>
            </a:r>
            <a:endParaRPr i="1" sz="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7" name="Google Shape;187;g3a5fc6b4c27_12_0"/>
          <p:cNvSpPr txBox="1"/>
          <p:nvPr/>
        </p:nvSpPr>
        <p:spPr>
          <a:xfrm>
            <a:off x="4431750" y="4324575"/>
            <a:ext cx="14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Structured list of recipes that follow the user requirements</a:t>
            </a:r>
            <a:endParaRPr i="1" sz="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ba03d7e56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System</a:t>
            </a:r>
            <a:r>
              <a:rPr lang="en-US"/>
              <a:t> architecture</a:t>
            </a:r>
            <a:endParaRPr/>
          </a:p>
        </p:txBody>
      </p:sp>
      <p:pic>
        <p:nvPicPr>
          <p:cNvPr id="194" name="Google Shape;194;g3aba03d7e56_0_6" title="architectur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250" y="1002675"/>
            <a:ext cx="6355501" cy="374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ba03d7e56_0_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f363d3571_3_1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Agents</a:t>
            </a:r>
            <a:endParaRPr/>
          </a:p>
        </p:txBody>
      </p:sp>
      <p:sp>
        <p:nvSpPr>
          <p:cNvPr id="202" name="Google Shape;202;g3af363d3571_3_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3" name="Google Shape;203;g3af363d3571_3_16"/>
          <p:cNvGraphicFramePr/>
          <p:nvPr/>
        </p:nvGraphicFramePr>
        <p:xfrm>
          <a:off x="583100" y="1187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{EEDC3A0B-677C-43FB-944E-F5EFEF9F52C6}</a:tableStyleId>
              </a:tblPr>
              <a:tblGrid>
                <a:gridCol w="1841950"/>
                <a:gridCol w="1841950"/>
                <a:gridCol w="1841950"/>
                <a:gridCol w="1841950"/>
              </a:tblGrid>
              <a:tr h="28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Agent name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Description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Input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Output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Clarification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Interprets and clarifies the user’s request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Raw user’s recipe requirements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Clarified and structured requirements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Schema generation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Converts conversation context and DB info into a structured query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Message history + user data from the database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Pydantic schema with extracted user preferences, restrictions and </a:t>
                      </a:r>
                      <a:r>
                        <a:rPr lang="en-US" sz="1000"/>
                        <a:t>summarized</a:t>
                      </a:r>
                      <a:r>
                        <a:rPr lang="en-US" sz="1000"/>
                        <a:t> query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Retrieval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Chooses and executes retrieval tools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Pydantic schema for user request + chat history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Pydantic schema with retrieved recipe candidates</a:t>
                      </a:r>
                      <a:br>
                        <a:rPr lang="en-US" sz="1000"/>
                      </a:br>
                      <a:r>
                        <a:rPr lang="en-US" sz="1000"/>
                        <a:t>(via tools/API)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Enrichment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Adds nutritional and calorie data to recipes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Pydantic schema with recipes and ingredients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Enriched recipe schema with nutrition info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Critic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Selects recipes that satisfy user preferences and generates feedback to retrieval agent</a:t>
                      </a:r>
                      <a:endParaRPr b="1"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Recipes from previous agent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Selected recipes + feedback to retrieval agent</a:t>
                      </a:r>
                      <a:endParaRPr sz="100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fc6b4c27_6_2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Interactions</a:t>
            </a:r>
            <a:endParaRPr/>
          </a:p>
        </p:txBody>
      </p:sp>
      <p:sp>
        <p:nvSpPr>
          <p:cNvPr id="210" name="Google Shape;210;g3a5fc6b4c27_6_23"/>
          <p:cNvSpPr txBox="1"/>
          <p:nvPr/>
        </p:nvSpPr>
        <p:spPr>
          <a:xfrm>
            <a:off x="787400" y="1143000"/>
            <a:ext cx="6999000" cy="3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Clarification subgraph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Clarification agent gathers and refines user info via LangGraph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Schema generation agent combines accumulated user data + DB info to create a unified Pydantic schema - a detailed plan for the next steps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Retrieval subgraph: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Retrieval agent uses the schema (plan) to call external tools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Tool outputs are parsed into recipe schemas.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Enrichment agent adds nutritional and additional details to recipes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Critic agent evaluates enriched recipes, filters compliant ones, and generates feedback for the retrieval agent, creating a feedback loop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Key insight: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Clarification subgraph sets the plan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Retrieval and critic form a loop akin to the ReAct pattern — retrieval acts, critic observes and guides next steps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1" name="Google Shape;211;g3a5fc6b4c27_6_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ba03d7e56_6_0"/>
          <p:cNvSpPr txBox="1"/>
          <p:nvPr/>
        </p:nvSpPr>
        <p:spPr>
          <a:xfrm>
            <a:off x="385275" y="292250"/>
            <a:ext cx="4567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850">
                <a:solidFill>
                  <a:schemeClr val="dk1"/>
                </a:solidFill>
              </a:rPr>
              <a:t>Tools (LangChain)</a:t>
            </a:r>
            <a:endParaRPr b="1" sz="2850">
              <a:solidFill>
                <a:schemeClr val="dk1"/>
              </a:solidFill>
            </a:endParaRPr>
          </a:p>
        </p:txBody>
      </p:sp>
      <p:sp>
        <p:nvSpPr>
          <p:cNvPr id="218" name="Google Shape;218;g3aba03d7e56_6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9" name="Google Shape;219;g3aba03d7e56_6_0"/>
          <p:cNvGraphicFramePr/>
          <p:nvPr/>
        </p:nvGraphicFramePr>
        <p:xfrm>
          <a:off x="589850" y="16062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{EEDC3A0B-677C-43FB-944E-F5EFEF9F52C6}</a:tableStyleId>
              </a:tblPr>
              <a:tblGrid>
                <a:gridCol w="1474800"/>
                <a:gridCol w="1474800"/>
                <a:gridCol w="1474800"/>
                <a:gridCol w="1474800"/>
                <a:gridCol w="1474800"/>
              </a:tblGrid>
              <a:tr h="283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Tool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Purpose</a:t>
                      </a:r>
                      <a:endParaRPr b="0"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Args</a:t>
                      </a:r>
                      <a:endParaRPr b="0"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API</a:t>
                      </a:r>
                      <a:endParaRPr b="0"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Note</a:t>
                      </a:r>
                      <a:endParaRPr b="0"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</a:tr>
              <a:tr h="52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search_recipes_by_name</a:t>
                      </a:r>
                      <a:endParaRPr b="1"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Finds specific dishes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recipe name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The Meal DB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Dynamic selection by retrieval agent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search_recipes_by_ingredient</a:t>
                      </a:r>
                      <a:endParaRPr b="1"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Include/exclude ingredients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include ingredient, exclude ingredient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The Meal DB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Dynamic selection by retrieval agent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search_recipes_by_area</a:t>
                      </a:r>
                      <a:endParaRPr b="1"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Browse cuisines by region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area name, exclude ingredient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The Meal DB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Dynamic selection by retrieval agent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get_nutrition</a:t>
                      </a:r>
                      <a:endParaRPr b="1"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Get nutrition info by ingredient name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ingredient name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OpenFoodFacts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Used statically (i.e. forced) in enrichment agent</a:t>
                      </a:r>
                      <a:endParaRPr sz="110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f363d3571_3_2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Memory</a:t>
            </a:r>
            <a:endParaRPr/>
          </a:p>
        </p:txBody>
      </p:sp>
      <p:sp>
        <p:nvSpPr>
          <p:cNvPr id="226" name="Google Shape;226;g3af363d3571_3_25"/>
          <p:cNvSpPr txBox="1"/>
          <p:nvPr/>
        </p:nvSpPr>
        <p:spPr>
          <a:xfrm>
            <a:off x="457200" y="10404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27" name="Google Shape;227;g3af363d3571_3_25"/>
          <p:cNvSpPr txBox="1"/>
          <p:nvPr/>
        </p:nvSpPr>
        <p:spPr>
          <a:xfrm>
            <a:off x="637850" y="1098625"/>
            <a:ext cx="25707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Short-term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Stored in RAM: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300">
                <a:solidFill>
                  <a:schemeClr val="dk1"/>
                </a:solidFill>
              </a:rPr>
              <a:t>Conversation history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300">
                <a:solidFill>
                  <a:schemeClr val="dk1"/>
                </a:solidFill>
              </a:rPr>
              <a:t>Graph state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Stored in Redis cache: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300">
                <a:solidFill>
                  <a:schemeClr val="dk1"/>
                </a:solidFill>
              </a:rPr>
              <a:t>All API requests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300">
                <a:solidFill>
                  <a:schemeClr val="dk1"/>
                </a:solidFill>
              </a:rPr>
              <a:t>Calls to enrichment agent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8" name="Google Shape;228;g3af363d3571_3_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g3af363d3571_3_25"/>
          <p:cNvSpPr txBox="1"/>
          <p:nvPr/>
        </p:nvSpPr>
        <p:spPr>
          <a:xfrm>
            <a:off x="3302450" y="1098625"/>
            <a:ext cx="23493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Long-term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Stored in postgres DB: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User preferences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User restrictions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User summarized previous queries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Langgraph checkpoints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0" name="Google Shape;230;g3af363d3571_3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2575" y="1576488"/>
            <a:ext cx="1892526" cy="18948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047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f363d3571_3_3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Fault tolerance</a:t>
            </a:r>
            <a:endParaRPr/>
          </a:p>
        </p:txBody>
      </p:sp>
      <p:sp>
        <p:nvSpPr>
          <p:cNvPr id="237" name="Google Shape;237;g3af363d3571_3_34"/>
          <p:cNvSpPr txBox="1"/>
          <p:nvPr>
            <p:ph idx="1" type="body"/>
          </p:nvPr>
        </p:nvSpPr>
        <p:spPr>
          <a:xfrm>
            <a:off x="457200" y="1211950"/>
            <a:ext cx="74328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 sz="1500"/>
              <a:t>Retries</a:t>
            </a:r>
            <a:endParaRPr b="1" sz="1500"/>
          </a:p>
          <a:p>
            <a:pPr indent="-317500" lvl="0" marL="4572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All API calls are wrapped in tenacity retries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Enrichment API has LLM fallback. Since this API is problematic, if it totally fails, LLM guesses on its own calories for ingredients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All LLMs have native langgraph’s ChatOpenAI retries on request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All structured outputs are wrapped in custom retries with fallback to parsing raw json manually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 sz="1500"/>
              <a:t>Structured output models</a:t>
            </a:r>
            <a:endParaRPr b="1" sz="1500"/>
          </a:p>
          <a:p>
            <a:pPr indent="-317500" lvl="0" marL="4572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Most of the fields for structured output models have few shot examples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Most of the fields has explicit pydantic  restrictions (e.g. min_length = 1)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For models which must extract IDs (e.g. of recipes) from input, in order to be totally sure we parse generated ids with regex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 sz="1500"/>
              <a:t>Anti recursion</a:t>
            </a:r>
            <a:endParaRPr b="1" sz="1500"/>
          </a:p>
          <a:p>
            <a:pPr indent="-317500" lvl="0" marL="4572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ReAct loop (critique &lt;-&gt; retrieval) is capped by max 3 iterations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Overall graph recursion limit aka max steps is set to 25</a:t>
            </a:r>
            <a:endParaRPr/>
          </a:p>
        </p:txBody>
      </p:sp>
      <p:sp>
        <p:nvSpPr>
          <p:cNvPr id="238" name="Google Shape;238;g3af363d3571_3_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5fc6b4c27_6_72"/>
          <p:cNvSpPr txBox="1"/>
          <p:nvPr>
            <p:ph type="title"/>
          </p:nvPr>
        </p:nvSpPr>
        <p:spPr>
          <a:xfrm>
            <a:off x="457200" y="306425"/>
            <a:ext cx="14445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</a:t>
            </a:r>
            <a:endParaRPr/>
          </a:p>
        </p:txBody>
      </p:sp>
      <p:sp>
        <p:nvSpPr>
          <p:cNvPr id="245" name="Google Shape;245;g3a5fc6b4c27_6_72"/>
          <p:cNvSpPr txBox="1"/>
          <p:nvPr/>
        </p:nvSpPr>
        <p:spPr>
          <a:xfrm>
            <a:off x="574725" y="1099125"/>
            <a:ext cx="37269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Future Improvements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Vector-based memory (retrieval-augmented personalization or recipe retrieval)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Add more recipe data sources (e.g., Spoonacular)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6" name="Google Shape;246;g3a5fc6b4c27_6_72"/>
          <p:cNvSpPr txBox="1"/>
          <p:nvPr/>
        </p:nvSpPr>
        <p:spPr>
          <a:xfrm>
            <a:off x="4689525" y="2809800"/>
            <a:ext cx="3619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Key Challenges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Limited flexibility of TheMealDB API and rate limits of OpenFoodFacts API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Calorie estimates depend on ingredient quantity quality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shopping list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g3a5fc6b4c27_6_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g3a5fc6b4c27_6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100" y="1038350"/>
            <a:ext cx="1592300" cy="159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76200">
              <a:srgbClr val="000000">
                <a:alpha val="50000"/>
              </a:srgbClr>
            </a:outerShdw>
          </a:effectLst>
        </p:spPr>
      </p:pic>
      <p:pic>
        <p:nvPicPr>
          <p:cNvPr id="249" name="Google Shape;249;g3a5fc6b4c27_6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8300" y="3014850"/>
            <a:ext cx="1499750" cy="1499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857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5fc6b4c27_6_18"/>
          <p:cNvSpPr txBox="1"/>
          <p:nvPr>
            <p:ph type="title"/>
          </p:nvPr>
        </p:nvSpPr>
        <p:spPr>
          <a:xfrm>
            <a:off x="2014875" y="1823975"/>
            <a:ext cx="50952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sz="2500">
                <a:solidFill>
                  <a:schemeClr val="lt1"/>
                </a:solidFill>
              </a:rPr>
              <a:t>Thank For Watching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55" name="Google Shape;255;g3a5fc6b4c27_6_18"/>
          <p:cNvSpPr txBox="1"/>
          <p:nvPr/>
        </p:nvSpPr>
        <p:spPr>
          <a:xfrm>
            <a:off x="3105000" y="3964275"/>
            <a:ext cx="2934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6" name="Google Shape;256;g3a5fc6b4c27_6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